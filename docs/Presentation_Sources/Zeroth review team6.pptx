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3" r:id="rId4"/>
    <p:sldId id="279" r:id="rId5"/>
    <p:sldId id="264" r:id="rId6"/>
    <p:sldId id="265" r:id="rId7"/>
    <p:sldId id="262" r:id="rId8"/>
    <p:sldId id="280" r:id="rId9"/>
    <p:sldId id="271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26" autoAdjust="0"/>
  </p:normalViewPr>
  <p:slideViewPr>
    <p:cSldViewPr snapToGrid="0">
      <p:cViewPr varScale="1">
        <p:scale>
          <a:sx n="89" d="100"/>
          <a:sy n="89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FD969-9832-4933-832E-3A58509884D6}" type="datetime1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8A4EF3-5BAA-4FEF-B1AB-E5C02F12A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C05AE-93A3-4AFD-A9F8-FA9153E4848A}" type="datetime1">
              <a:rPr lang="en-IN" smtClean="0"/>
              <a:t>24-06-2026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E3D55-DAFB-449A-B496-DACDA44C8BA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042A-7DEE-4BC2-A0FF-ADE6B0D70D7C}" type="datetime1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B1DD-FB43-4875-9A9A-F692B563926A}" type="datetime1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D2B51-34E4-466A-9DC4-485DA9428E6B}" type="datetime1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D1EC-5184-4A40-AF1D-4976D5879B51}" type="datetime1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1402-3461-4CA5-9E98-2ADBFAE2CC56}" type="datetime1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8D6FB-CA85-45CB-8AF7-3E32B0A418BA}" type="datetime1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929-D10C-4FF7-B22E-94453B270E5A}" type="datetime1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89B4-6292-4A47-9E12-57CB7D90954C}" type="datetime1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CCCB-1E5B-49F3-8B55-39F4DD25BDD4}" type="datetime1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E7533-3E13-4484-8FD7-475474B2A9F3}" type="datetime1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0536-59C3-4BC6-A11E-C16A5AC7DACE}" type="datetime1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83A66-37C8-449D-B309-E74901CC910B}" type="datetime1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/>
          <p:nvPr/>
        </p:nvSpPr>
        <p:spPr>
          <a:xfrm>
            <a:off x="2858729" y="1137293"/>
            <a:ext cx="6474542" cy="427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Department of </a:t>
            </a:r>
            <a:r>
              <a:rPr lang="en-US" altLang="en-I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Information Technology</a:t>
            </a:r>
            <a:endParaRPr lang="en-IN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-3" y="6085020"/>
            <a:ext cx="5309758" cy="7378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US" alt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Lal Prakash</a:t>
            </a:r>
          </a:p>
        </p:txBody>
      </p:sp>
      <p:sp>
        <p:nvSpPr>
          <p:cNvPr id="7" name="Subtitle 2"/>
          <p:cNvSpPr txBox="1"/>
          <p:nvPr/>
        </p:nvSpPr>
        <p:spPr>
          <a:xfrm>
            <a:off x="7462683" y="5497021"/>
            <a:ext cx="4729317" cy="13260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Members: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RITHANYA S</a:t>
            </a:r>
            <a:r>
              <a:rPr lang="en-US" alt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- 727723EUIT188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US" alt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PRIYADHARSHINI M - 727723EUIT171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US" alt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RUPESH KUMAR S - 727723EUIT191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0" y="5749630"/>
            <a:ext cx="3962399" cy="445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No.:</a:t>
            </a:r>
            <a:r>
              <a:rPr lang="en-US" alt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-3" y="6453960"/>
            <a:ext cx="3962399" cy="445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IN" sz="2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20/06/2026 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(FN)</a:t>
            </a: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/>
          <p:cNvSpPr txBox="1"/>
          <p:nvPr/>
        </p:nvSpPr>
        <p:spPr>
          <a:xfrm>
            <a:off x="2895600" y="2931920"/>
            <a:ext cx="6400800" cy="688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  <a:r>
              <a:rPr lang="en-US" alt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UNIFIED SEMANTIC RETRIEVAL FOR OFFLINE TEXT, IMAGES AND AUDIO</a:t>
            </a:r>
            <a:endParaRPr lang="en-US" altLang="en-US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/>
          <p:cNvSpPr txBox="1"/>
          <p:nvPr/>
        </p:nvSpPr>
        <p:spPr>
          <a:xfrm>
            <a:off x="2895600" y="1902524"/>
            <a:ext cx="6400800" cy="55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Phase – I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430592" y="254935"/>
            <a:ext cx="9330816" cy="934675"/>
            <a:chOff x="1071716" y="272962"/>
            <a:chExt cx="9330816" cy="93467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716" y="272962"/>
              <a:ext cx="8377084" cy="934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0" name="Picture 2" descr="Anna University Logo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39" t="10338" r="20319" b="10894"/>
            <a:stretch>
              <a:fillRect/>
            </a:stretch>
          </p:blipFill>
          <p:spPr bwMode="auto">
            <a:xfrm>
              <a:off x="9571702" y="272962"/>
              <a:ext cx="830830" cy="829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Subtitle 2"/>
          <p:cNvSpPr txBox="1"/>
          <p:nvPr/>
        </p:nvSpPr>
        <p:spPr>
          <a:xfrm>
            <a:off x="5031658" y="2373462"/>
            <a:ext cx="2128684" cy="55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195" y="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855" y="1019175"/>
            <a:ext cx="11625580" cy="5702300"/>
          </a:xfrm>
        </p:spPr>
        <p:txBody>
          <a:bodyPr>
            <a:normAutofit fontScale="97500"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Problem: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Information is stored in various formats such as PDFs, Word documents, images, and audio files. Retrieving relevant information from these sources is difficult and time-consuming. Traditional search systems rely on keywords and cannot effectively understand user intent across multiple data formats.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and Background: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digital data has increased the need for efficient information retrieval. Most existing solutions are format-specific and depend on internet connectivity, creating challenges in privacy-sensitive and low-connectivity environments.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Problem:</a:t>
            </a: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time spent searching for information. Difficulty accessing data across different file formats. Limited retrieval of information from images and audio files. Privacy and security concerns with cloud-based systems. Reduced accessibility in offline or low-connectivity environments.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9813-2FF0-4B7E-8ABC-F71D45EBE63E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24-06-2026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395" y="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045" y="962660"/>
            <a:ext cx="11369675" cy="5336540"/>
          </a:xfrm>
        </p:spPr>
        <p:txBody>
          <a:bodyPr>
            <a:normAutofit fontScale="92500" lnSpcReduction="10000"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offline multimodal RAG system that retrieves and generates answers from PDFs, DOCX files, images, and audio using semantic search.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Objectives: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Extract and process information from PDF, DOCX, image, and audio files using OCR and speech-to-text techniques.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Generate semantic embeddings and implement vector-based retrieval for accurate information search.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 Integrate a local Large Language Model (LLM) to generate answers with source references while ensuring fully offline operation.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Measurable Outcomes: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1.Support processing and retrieval from PDF, DOCX, image, and audio files.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2.Achieve accurate semantic search and relevant information retrieval.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3.Generate source-supported answers using a local LLM in a fully offline environment.</a:t>
            </a:r>
            <a:endParaRPr lang="en-US" alt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71B3C-4187-4AF5-82A3-4053E57F0D06}" type="datetime1">
              <a:rPr lang="en-IN" smtClean="0"/>
              <a:t>24-06-2026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" y="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Goals - Mapping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EE49-49E5-4D0F-9950-7B0F2EF6B029}" type="datetime1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4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228600" y="2809875"/>
            <a:ext cx="1778635" cy="1663065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4"/>
          <a:stretch>
            <a:fillRect/>
          </a:stretch>
        </p:blipFill>
        <p:spPr>
          <a:xfrm>
            <a:off x="288925" y="1131570"/>
            <a:ext cx="1428750" cy="140970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246630" y="1325880"/>
            <a:ext cx="92627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Enhances access to educational knowledge through AI-powered semantic retrieval from documents, images, and audio sources.</a:t>
            </a:r>
            <a:endParaRPr sz="2400" dirty="0"/>
          </a:p>
        </p:txBody>
      </p:sp>
      <p:sp>
        <p:nvSpPr>
          <p:cNvPr id="15" name="Text Box 14"/>
          <p:cNvSpPr txBox="1"/>
          <p:nvPr/>
        </p:nvSpPr>
        <p:spPr>
          <a:xfrm>
            <a:off x="2379345" y="3013710"/>
            <a:ext cx="9187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Promotes innovation through AI-powered semantic retrieval systems.</a:t>
            </a:r>
            <a:endParaRPr sz="2400" dirty="0"/>
          </a:p>
        </p:txBody>
      </p:sp>
      <p:pic>
        <p:nvPicPr>
          <p:cNvPr id="16" name="Picture 15"/>
          <p:cNvPicPr/>
          <p:nvPr/>
        </p:nvPicPr>
        <p:blipFill>
          <a:blip r:embed="rId5"/>
          <a:stretch>
            <a:fillRect/>
          </a:stretch>
        </p:blipFill>
        <p:spPr>
          <a:xfrm>
            <a:off x="336262" y="4931517"/>
            <a:ext cx="1362075" cy="126047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2503170" y="5081905"/>
            <a:ext cx="88506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Supports secure, privacy-preserving information access and management.</a:t>
            </a:r>
            <a:endParaRPr sz="2400" dirty="0"/>
          </a:p>
        </p:txBody>
      </p:sp>
      <p:pic>
        <p:nvPicPr>
          <p:cNvPr id="7" name="Picture 6" descr="https://images.openai.com/static-rsc-4/xoy4wk2Wd14KhoAG7UtOksbY4qHnJXDoEQXHwIfjn01HI5RNfL3_3dps3UnFLNAEhWcQpUkUg0S66iMtDeSc2VxzioYKBWaBGFJfxzmAbU45cG3UsDzRHJKrAiCYcThzrWoOaikOokhHCozZc7enACm3CoVq2Gy3KEaHNqjmGejVKdrYsivh7oG7HjdAy9k2?purpose=fullsize">
            <a:extLst>
              <a:ext uri="{FF2B5EF4-FFF2-40B4-BE49-F238E27FC236}">
                <a16:creationId xmlns:a16="http://schemas.microsoft.com/office/drawing/2014/main" id="{63E432F8-623B-83EF-8AFC-A59D68B991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212"/>
          <a:stretch>
            <a:fillRect/>
          </a:stretch>
        </p:blipFill>
        <p:spPr>
          <a:xfrm>
            <a:off x="227090" y="4821862"/>
            <a:ext cx="1471247" cy="1370130"/>
          </a:xfrm>
          <a:prstGeom prst="rect">
            <a:avLst/>
          </a:prstGeom>
        </p:spPr>
      </p:pic>
      <p:pic>
        <p:nvPicPr>
          <p:cNvPr id="9" name="Picture 8" descr="https://images.openai.com/static-rsc-4/Tk_gyWNprQGkoXpj7uLQNnZvle22kj1xrmkB88whOeZ3VLKwVEjYL41ZX2WVqLwG7qOWnwlL5xCqZz5UkIMzgOsX_nq2QuTaQz-nAUScyq8J3RODQXE0IARCLqesD41c3FLCv4ViOdxA06-TN1eJHvH_uZp8EqegF5AbR5SivXavRAjYZNZ7vH_tvPTCMK9P?purpose=fullsize">
            <a:extLst>
              <a:ext uri="{FF2B5EF4-FFF2-40B4-BE49-F238E27FC236}">
                <a16:creationId xmlns:a16="http://schemas.microsoft.com/office/drawing/2014/main" id="{9BB2D832-95BC-5CE8-F855-B8A2E5D4CE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925" y="2849822"/>
            <a:ext cx="1460513" cy="1420253"/>
          </a:xfrm>
          <a:prstGeom prst="rect">
            <a:avLst/>
          </a:prstGeom>
        </p:spPr>
      </p:pic>
      <p:pic>
        <p:nvPicPr>
          <p:cNvPr id="10" name="Picture 9" descr="https://images.openai.com/static-rsc-4/YbVaFlnbh9zjIlyymetAOLrheUIb5VXOQSz7q3fwYsMdTSf9rU6TaZauvIs5oVXOoKeLwEau-c49rPQDUdt5FE207ALcPGCi_4tfTnZAP2PRvZe9pAr2gfpakC6zOzAVz5VEewtyAT19xsYTbW5IEmM1No2YpewRlE6a9XFt-iDYY3wnaABEfefgjk7Y7Xno?purpose=fullsize">
            <a:extLst>
              <a:ext uri="{FF2B5EF4-FFF2-40B4-BE49-F238E27FC236}">
                <a16:creationId xmlns:a16="http://schemas.microsoft.com/office/drawing/2014/main" id="{67B6BC8A-D464-3D8F-C9B5-2CAF4315D2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926" y="1131859"/>
            <a:ext cx="1460512" cy="1409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470" y="-8953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Work: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existing research related to the problem.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in Existing Research: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areas that have not been addressed or need further investigation.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References: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Cite important studies, articles, and papers relevant to the topic.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10 Journal Papers need to be addressed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EC3E-AFF3-43F5-B41F-E721100205F4}" type="datetime1">
              <a:rPr lang="en-IN" smtClean="0"/>
              <a:t>24-06-2026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" y="-10985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655" y="949960"/>
            <a:ext cx="6191885" cy="2699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7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Solutions:</a:t>
            </a:r>
            <a:r>
              <a:rPr lang="en-US" sz="27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 File Analysis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NotebookLM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RAG Systems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LlamaIndex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Retrieval Systems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Search Platforms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461A-921A-4188-B414-611F73B1DD07}" type="datetime1">
              <a:rPr lang="en-IN" smtClean="0"/>
              <a:t>24-06-2026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479540" y="842645"/>
            <a:ext cx="5712460" cy="25863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internet connectivity.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on paid cloud APIs.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privacy and security.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multimodal integration.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deployment costs</a:t>
            </a:r>
            <a:r>
              <a:rPr lang="en-US" sz="2800" dirty="0"/>
              <a:t>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73380" y="3689183"/>
            <a:ext cx="8046001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Trends: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Large Language Models.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Computing.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Systems.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AI.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765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Work/ 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599" y="1325563"/>
            <a:ext cx="5194300" cy="3559295"/>
          </a:xfrm>
        </p:spPr>
        <p:txBody>
          <a:bodyPr/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and Approach: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an offline multimodal RAG framework capable of processing PDFs, DOCX files, images, and audio recordings, converting them into a common semantic representation, and retrieving relevant information using vector similarity search.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F001-7C6F-4E01-BC69-D7191FDDFE22}" type="datetime1">
              <a:rPr lang="en-IN" smtClean="0"/>
              <a:t>24-06-2026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898515" y="1325563"/>
            <a:ext cx="6113780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Innovations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offline deployment.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multimodal retrieval.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OCR and speech recognition.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 with source attribution.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architecture.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Work/ Methodology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52855"/>
            <a:ext cx="5592445" cy="2176145"/>
          </a:xfrm>
        </p:spPr>
        <p:txBody>
          <a:bodyPr>
            <a:normAutofit lnSpcReduction="10000"/>
          </a:bodyPr>
          <a:lstStyle/>
          <a:p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open-source tools.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 standard personal computers.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cloud infrastructure required.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deployment and maintenance cost.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B1DD-FB43-4875-9A9A-F692B563926A}" type="datetime1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8</a:t>
            </a:fld>
            <a:endParaRPr lang="en-IN"/>
          </a:p>
        </p:txBody>
      </p:sp>
      <p:sp>
        <p:nvSpPr>
          <p:cNvPr id="8" name="Text Box 7"/>
          <p:cNvSpPr txBox="1"/>
          <p:nvPr/>
        </p:nvSpPr>
        <p:spPr>
          <a:xfrm>
            <a:off x="572135" y="3429000"/>
            <a:ext cx="5925185" cy="33085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Research Design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Generation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Storage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Retrieval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Answer Generation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724015" y="1252538"/>
            <a:ext cx="5080000" cy="38164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Techniques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: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: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Phi-3 Mini/Llama 3.2</a:t>
            </a:r>
            <a:endParaRPr lang="en-US" alt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(Vector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: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Search, RAG, Embedding Generation, OCR, Faster-Whisper, Text Chunking and Vector Similarity Search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695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240" y="1252855"/>
            <a:ext cx="5826760" cy="5103495"/>
          </a:xfrm>
        </p:spPr>
        <p:txBody>
          <a:bodyPr>
            <a:normAutofit fontScale="950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retrieval of information from multiple file formats.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semantic search results.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answer generation using local LLMs.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productivity.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search time.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privacy and security.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internet dependency.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deployment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FE89-6A08-49E8-AA9E-187CB465A220}" type="datetime1">
              <a:rPr lang="en-IN" smtClean="0"/>
              <a:t>24-06-2026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9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328008" y="1325563"/>
            <a:ext cx="4331335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Knowledge Management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Organizations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Departments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frame/ Schedule for completion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timeline or milestones for the project.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to be visualized through Gantt Chart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BF114-833B-458C-87F0-80E2AAB1BDF0}" type="datetime1">
              <a:rPr lang="en-IN" smtClean="0"/>
              <a:t>24-06-2026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10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Breakdown: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detailed breakdown of the budget.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Needed: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the resources, equipment, and materials required.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Funding Sources: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 potential sources of funding or any existing funding.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8F52-0C91-47BD-AD06-93C7C54ACFC0}" type="datetime1">
              <a:rPr lang="en-IN" smtClean="0"/>
              <a:t>24-06-2026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11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Reference(s)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list of all references cited in the presentation.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Reading: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additional resources for further reading on the topic.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A03E-DA93-4F08-B7E7-EDCD9FB357FD}" type="datetime1">
              <a:rPr lang="en-IN" smtClean="0"/>
              <a:t>24-06-2026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12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80</TotalTime>
  <Words>1021</Words>
  <Application>Microsoft Office PowerPoint</Application>
  <PresentationFormat>Widescreen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Problem Statement(s)</vt:lpstr>
      <vt:lpstr>Objective(s)</vt:lpstr>
      <vt:lpstr>Sustainable Developmen t Goals - Mapping</vt:lpstr>
      <vt:lpstr>Literature Review</vt:lpstr>
      <vt:lpstr>Existing Technology </vt:lpstr>
      <vt:lpstr>Proposed Work/ Methodology</vt:lpstr>
      <vt:lpstr>Proposed Work/ Methodology</vt:lpstr>
      <vt:lpstr>Expected Outcomes</vt:lpstr>
      <vt:lpstr>Time frame/ Schedule for completion</vt:lpstr>
      <vt:lpstr>Budget</vt:lpstr>
      <vt:lpstr>Reference(s)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Kaalei Muthoo</dc:creator>
  <cp:lastModifiedBy>Rupesh Kumar</cp:lastModifiedBy>
  <cp:revision>22</cp:revision>
  <dcterms:created xsi:type="dcterms:W3CDTF">2024-07-29T08:43:00Z</dcterms:created>
  <dcterms:modified xsi:type="dcterms:W3CDTF">2026-06-24T03:50:54Z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BAC69E0D823B4F2499E5CE90E125734D_13</vt:lpwstr>
  </property>
</Properties>
</file>